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13"/>
    <p:sldId id="266" r:id="rId14"/>
    <p:sldId id="267" r:id="rId15"/>
  </p:sldIdLst>
  <p:sldSz cx="12191365" cy="6858000" type="screen4x3"/>
  <p:notesSz cx="6858000" cy="9144000"/>
  <p:embeddedFontLst>
    <p:embeddedFont>
      <p:font typeface="Arial Black" panose="020B0A04020102020204" charset="0"/>
      <p:bold r:id="rId20"/>
    </p:embeddedFont>
    <p:embeddedFont>
      <p:font typeface="Lato" panose="020F0502020204030203" charset="0"/>
      <p:regular r:id="rId21"/>
    </p:embeddedFont>
    <p:embeddedFont>
      <p:font typeface="Manrope ExtraBold" charset="0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  <p:embeddedFont>
      <p:font typeface="Charis SIL" panose="02000500060000020004" charset="0"/>
      <p:regular r:id="rId27"/>
    </p:embeddedFont>
    <p:embeddedFont>
      <p:font typeface="Crimson Text SemiBold" charset="0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40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9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image" Target="../media/image2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image" Target="../media/image6.png"/><Relationship Id="rId5" Type="http://schemas.openxmlformats.org/officeDocument/2006/relationships/tags" Target="../tags/tag120.xml"/><Relationship Id="rId4" Type="http://schemas.openxmlformats.org/officeDocument/2006/relationships/image" Target="../media/image5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image" Target="../media/image8.png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image" Target="../media/image7.png"/><Relationship Id="rId2" Type="http://schemas.openxmlformats.org/officeDocument/2006/relationships/tags" Target="../tags/tag132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44.xml"/><Relationship Id="rId7" Type="http://schemas.openxmlformats.org/officeDocument/2006/relationships/image" Target="../media/image12.png"/><Relationship Id="rId6" Type="http://schemas.openxmlformats.org/officeDocument/2006/relationships/tags" Target="../tags/tag143.xml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84.xml"/><Relationship Id="rId8" Type="http://schemas.openxmlformats.org/officeDocument/2006/relationships/tags" Target="../tags/tag183.xml"/><Relationship Id="rId7" Type="http://schemas.openxmlformats.org/officeDocument/2006/relationships/tags" Target="../tags/tag182.xml"/><Relationship Id="rId6" Type="http://schemas.openxmlformats.org/officeDocument/2006/relationships/image" Target="../media/image6.png"/><Relationship Id="rId5" Type="http://schemas.openxmlformats.org/officeDocument/2006/relationships/tags" Target="../tags/tag181.xml"/><Relationship Id="rId4" Type="http://schemas.openxmlformats.org/officeDocument/2006/relationships/image" Target="../media/image5.png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1" Type="http://schemas.openxmlformats.org/officeDocument/2006/relationships/tags" Target="../tags/tag186.xml"/><Relationship Id="rId10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7" Type="http://schemas.openxmlformats.org/officeDocument/2006/relationships/tags" Target="../tags/tag252.xml"/><Relationship Id="rId6" Type="http://schemas.openxmlformats.org/officeDocument/2006/relationships/tags" Target="../tags/tag251.xml"/><Relationship Id="rId5" Type="http://schemas.openxmlformats.org/officeDocument/2006/relationships/tags" Target="../tags/tag250.xml"/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2" y="0"/>
            <a:ext cx="12169193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4536" y="606425"/>
            <a:ext cx="1087698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243" y="4309110"/>
            <a:ext cx="2158318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563" y="3815715"/>
            <a:ext cx="5229588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757" y="984885"/>
            <a:ext cx="6929394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364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348" y="1054100"/>
            <a:ext cx="642587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89803" y="3277235"/>
            <a:ext cx="448922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3632" y="4663440"/>
            <a:ext cx="819107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28" y="835660"/>
            <a:ext cx="7601643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1840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104" y="2189480"/>
            <a:ext cx="780374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3843" y="1170305"/>
            <a:ext cx="642587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272" y="2189480"/>
            <a:ext cx="6804126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06" y="360000"/>
            <a:ext cx="10799834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06" y="360000"/>
            <a:ext cx="10798525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9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4536" y="606425"/>
            <a:ext cx="1087698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5581" y="4321810"/>
            <a:ext cx="2176978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416" y="2042795"/>
            <a:ext cx="6154734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1968" y="6314400"/>
            <a:ext cx="2699859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786" y="6314400"/>
            <a:ext cx="3959794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138" y="6314400"/>
            <a:ext cx="2699859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288"/>
            <a:ext cx="12188190" cy="3387903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793" y="3465571"/>
            <a:ext cx="10042599" cy="1799906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152" y="6356198"/>
            <a:ext cx="2743057" cy="36510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793" y="5676272"/>
            <a:ext cx="10042599" cy="57960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4" y="360160"/>
            <a:ext cx="10799438" cy="719963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179"/>
            <a:ext cx="12188190" cy="4381887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595" y="4219431"/>
            <a:ext cx="5298269" cy="1081032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548" y="179"/>
            <a:ext cx="8247458" cy="6857643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36" y="3896531"/>
            <a:ext cx="8247458" cy="2078624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36" y="1349072"/>
            <a:ext cx="3953141" cy="2142764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4" y="36016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861"/>
            <a:ext cx="5323563" cy="487559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861"/>
            <a:ext cx="5323563" cy="487559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4" y="36016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205"/>
            <a:ext cx="10801422" cy="5817567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4" y="360160"/>
            <a:ext cx="10799438" cy="719963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861"/>
            <a:ext cx="10798526" cy="405532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8019"/>
            <a:ext cx="12188190" cy="3278324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14" y="3477867"/>
            <a:ext cx="9844262" cy="1799906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152" y="6356198"/>
            <a:ext cx="2743057" cy="36510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793" y="5527690"/>
            <a:ext cx="10042599" cy="57960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4" Type="http://schemas.openxmlformats.org/officeDocument/2006/relationships/theme" Target="../theme/theme2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4.svg"/><Relationship Id="rId16" Type="http://schemas.openxmlformats.org/officeDocument/2006/relationships/image" Target="../media/image3.png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20" Type="http://schemas.openxmlformats.org/officeDocument/2006/relationships/tags" Target="../tags/tag194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tags" Target="../tags/tag191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image" Target="../media/image13.png"/><Relationship Id="rId13" Type="http://schemas.openxmlformats.org/officeDocument/2006/relationships/tags" Target="../tags/tag188.xml"/><Relationship Id="rId12" Type="http://schemas.openxmlformats.org/officeDocument/2006/relationships/tags" Target="../tags/tag187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316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24" y="6356350"/>
            <a:ext cx="2743057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390" y="6356350"/>
            <a:ext cx="411458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527" y="6356350"/>
            <a:ext cx="2743057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179"/>
            <a:ext cx="1450611" cy="703098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387" y="2289077"/>
            <a:ext cx="2253978" cy="4568743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24" y="360160"/>
            <a:ext cx="10799438" cy="71996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24" y="1301860"/>
            <a:ext cx="10799438" cy="487337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24" y="6356198"/>
            <a:ext cx="2743057" cy="3651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198"/>
            <a:ext cx="4114586" cy="36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527" y="6356198"/>
            <a:ext cx="2743057" cy="3651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7" Type="http://schemas.openxmlformats.org/officeDocument/2006/relationships/tags" Target="../tags/tag26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5.xml"/><Relationship Id="rId6" Type="http://schemas.openxmlformats.org/officeDocument/2006/relationships/tags" Target="../tags/tag270.xml"/><Relationship Id="rId5" Type="http://schemas.openxmlformats.org/officeDocument/2006/relationships/image" Target="../media/image16.png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5.xml"/><Relationship Id="rId6" Type="http://schemas.openxmlformats.org/officeDocument/2006/relationships/tags" Target="../tags/tag275.xml"/><Relationship Id="rId5" Type="http://schemas.openxmlformats.org/officeDocument/2006/relationships/image" Target="../media/image17.png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4.xml"/><Relationship Id="rId8" Type="http://schemas.openxmlformats.org/officeDocument/2006/relationships/tags" Target="../tags/tag283.xml"/><Relationship Id="rId7" Type="http://schemas.openxmlformats.org/officeDocument/2006/relationships/tags" Target="../tags/tag282.xml"/><Relationship Id="rId6" Type="http://schemas.openxmlformats.org/officeDocument/2006/relationships/tags" Target="../tags/tag281.xml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6" Type="http://schemas.openxmlformats.org/officeDocument/2006/relationships/slideLayout" Target="../slideLayouts/slideLayout35.xml"/><Relationship Id="rId15" Type="http://schemas.openxmlformats.org/officeDocument/2006/relationships/tags" Target="../tags/tag290.xml"/><Relationship Id="rId14" Type="http://schemas.openxmlformats.org/officeDocument/2006/relationships/tags" Target="../tags/tag289.xml"/><Relationship Id="rId13" Type="http://schemas.openxmlformats.org/officeDocument/2006/relationships/tags" Target="../tags/tag288.xml"/><Relationship Id="rId12" Type="http://schemas.openxmlformats.org/officeDocument/2006/relationships/tags" Target="../tags/tag287.xml"/><Relationship Id="rId11" Type="http://schemas.openxmlformats.org/officeDocument/2006/relationships/tags" Target="../tags/tag286.xml"/><Relationship Id="rId10" Type="http://schemas.openxmlformats.org/officeDocument/2006/relationships/tags" Target="../tags/tag285.xml"/><Relationship Id="rId1" Type="http://schemas.openxmlformats.org/officeDocument/2006/relationships/tags" Target="../tags/tag27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1" Type="http://schemas.openxmlformats.org/officeDocument/2006/relationships/slideLayout" Target="../slideLayouts/slideLayout35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5.xml"/><Relationship Id="rId5" Type="http://schemas.openxmlformats.org/officeDocument/2006/relationships/tags" Target="../tags/tag304.xml"/><Relationship Id="rId4" Type="http://schemas.openxmlformats.org/officeDocument/2006/relationships/image" Target="../media/image18.png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tags" Target="../tags/tag312.xml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7" Type="http://schemas.openxmlformats.org/officeDocument/2006/relationships/slideLayout" Target="../slideLayouts/slideLayout40.xml"/><Relationship Id="rId16" Type="http://schemas.openxmlformats.org/officeDocument/2006/relationships/tags" Target="../tags/tag319.xml"/><Relationship Id="rId15" Type="http://schemas.openxmlformats.org/officeDocument/2006/relationships/image" Target="../media/image19.png"/><Relationship Id="rId14" Type="http://schemas.openxmlformats.org/officeDocument/2006/relationships/tags" Target="../tags/tag318.xml"/><Relationship Id="rId13" Type="http://schemas.openxmlformats.org/officeDocument/2006/relationships/tags" Target="../tags/tag317.xml"/><Relationship Id="rId12" Type="http://schemas.openxmlformats.org/officeDocument/2006/relationships/tags" Target="../tags/tag316.xml"/><Relationship Id="rId11" Type="http://schemas.openxmlformats.org/officeDocument/2006/relationships/tags" Target="../tags/tag315.xml"/><Relationship Id="rId10" Type="http://schemas.openxmlformats.org/officeDocument/2006/relationships/tags" Target="../tags/tag314.xml"/><Relationship Id="rId1" Type="http://schemas.openxmlformats.org/officeDocument/2006/relationships/tags" Target="../tags/tag30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tags" Target="../tags/tag32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5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tags" Target="../tags/tag3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>
            <p:custDataLst>
              <p:tags r:id="rId1"/>
            </p:custDataLst>
          </p:nvPr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Oval 4"/>
          <p:cNvSpPr/>
          <p:nvPr>
            <p:custDataLst>
              <p:tags r:id="rId2"/>
            </p:custDataLst>
          </p:nvPr>
        </p:nvSpPr>
        <p:spPr>
          <a:xfrm>
            <a:off x="320040" y="521208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10881360" y="640080"/>
            <a:ext cx="822960" cy="822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11247120" y="5303520"/>
            <a:ext cx="411480" cy="4114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01295"/>
            <a:ext cx="12181205" cy="1468120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888365" y="1975485"/>
            <a:ext cx="10580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/>
              <a:t>DEPARTMENT OF CSE(IOT AND CYBER SECURITY INCLUDING BLOCKCHAIN TECHNOLOGY)</a:t>
            </a:r>
            <a:endParaRPr lang="en-IN" altLang="en-US"/>
          </a:p>
        </p:txBody>
      </p:sp>
      <p:sp>
        <p:nvSpPr>
          <p:cNvPr id="28" name="Text Box 27"/>
          <p:cNvSpPr txBox="1"/>
          <p:nvPr/>
        </p:nvSpPr>
        <p:spPr>
          <a:xfrm>
            <a:off x="2228850" y="2504440"/>
            <a:ext cx="8070850" cy="368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Blockchain-Based IoT Smart Agriculture Monitoring and Data Security System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7992745" y="4933315"/>
            <a:ext cx="4975225" cy="186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/>
              <a:t>            GROUP MEMBERS:</a:t>
            </a:r>
            <a:endParaRPr lang="en-IN" altLang="en-US"/>
          </a:p>
          <a:p>
            <a:endParaRPr lang="en-IN" altLang="en-US"/>
          </a:p>
          <a:p>
            <a:r>
              <a:rPr lang="en-IN" altLang="en-US"/>
              <a:t>AISHWARYA PRABHA(3GN23IC005)</a:t>
            </a:r>
            <a:endParaRPr lang="en-IN" altLang="en-US"/>
          </a:p>
          <a:p>
            <a:r>
              <a:rPr lang="en-IN" altLang="en-US"/>
              <a:t>AKSHATA(3GN23IC007)</a:t>
            </a:r>
            <a:endParaRPr lang="en-IN" altLang="en-US"/>
          </a:p>
          <a:p>
            <a:r>
              <a:rPr lang="en-IN" altLang="en-US"/>
              <a:t>SHARANAMBE(3GN23IC047)</a:t>
            </a:r>
            <a:endParaRPr lang="en-IN" altLang="en-US"/>
          </a:p>
          <a:p>
            <a:r>
              <a:rPr lang="en-IN" altLang="en-US"/>
              <a:t>PRIYANKA(3GN23IC036)</a:t>
            </a:r>
            <a:endParaRPr lang="en-IN" altLang="en-US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033395"/>
            <a:ext cx="6699885" cy="35433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203200" y="1290320"/>
            <a:ext cx="6034405" cy="4537075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 </a:t>
            </a:r>
            <a:endParaRPr sz="2000">
              <a:solidFill>
                <a:schemeClr val="accent4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endParaRPr sz="2000">
              <a:solidFill>
                <a:schemeClr val="accent4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Traditional agriculture monitoring requires continuous observation of environmental and soil conditions.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Agricultural sensor data may be difficult to manage securely and can be vulnerable to unauthorized modification.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A secure, transparent and technology-based monitoring system can help improve data management.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2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6144768"/>
            <a:ext cx="137033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00918C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1. Project Title and Problem Statement</a:t>
            </a:r>
            <a:endParaRPr lang="en-US" dirty="0"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0" y="1289685"/>
            <a:ext cx="1219136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000">
                <a:solidFill>
                  <a:schemeClr val="accent4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Project Title: Blockchain-Based IoT Smart Agriculture Monitoring and Data Security System</a:t>
            </a:r>
            <a:endParaRPr lang="en-US" sz="2000">
              <a:solidFill>
                <a:schemeClr val="accent4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010" y="1859915"/>
            <a:ext cx="5492750" cy="45167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1463040"/>
            <a:ext cx="7072630" cy="2271395"/>
          </a:xfrm>
          <a:prstGeom prst="rect">
            <a:avLst/>
          </a:prstGeom>
          <a:noFill/>
        </p:spPr>
        <p:txBody>
          <a:bodyPr wrap="square">
            <a:normAutofit fontScale="90000" lnSpcReduction="10000"/>
          </a:bodyPr>
          <a:lstStyle/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Monitor agricultural parameters using IoT sensors.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Collect data such as soil moisture, temperature and humidity.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Enable real-time monitoring of farm conditions.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Improve the security and integrity of important agricultural data using blockchain.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Provide a foundation for secure and smart agriculture management.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3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6144768"/>
            <a:ext cx="137033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34A853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2. Objectives</a:t>
            </a:r>
            <a:endParaRPr lang="en-US" dirty="0">
              <a:sym typeface="+mn-ea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165" y="1080135"/>
            <a:ext cx="3388995" cy="53663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411480" y="2743200"/>
            <a:ext cx="1874519" cy="96012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rPr>
                <a:solidFill>
                  <a:schemeClr val="tx1"/>
                </a:solidFill>
              </a:rPr>
              <a:t>IoT Sensors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3" name="Content Placeholder 3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24" y="1301749"/>
            <a:ext cx="10799438" cy="4873625"/>
          </a:xfrm>
        </p:spPr>
        <p:txBody>
          <a:bodyPr/>
          <a:p>
            <a:endParaRPr lang="en-US"/>
          </a:p>
        </p:txBody>
      </p:sp>
      <p:cxnSp>
        <p:nvCxnSpPr>
          <p:cNvPr id="5" name="Connector 4"/>
          <p:cNvCxnSpPr/>
          <p:nvPr>
            <p:custDataLst>
              <p:tags r:id="rId3"/>
            </p:custDataLst>
          </p:nvPr>
        </p:nvCxnSpPr>
        <p:spPr>
          <a:xfrm>
            <a:off x="2286000" y="3227832"/>
            <a:ext cx="429768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>
          <a:xfrm>
            <a:off x="2743200" y="2743200"/>
            <a:ext cx="1874519" cy="96012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rPr>
                <a:solidFill>
                  <a:schemeClr val="tx1"/>
                </a:solidFill>
              </a:rPr>
              <a:t>ESP32 / Controller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7" name="Connector 6"/>
          <p:cNvCxnSpPr/>
          <p:nvPr>
            <p:custDataLst>
              <p:tags r:id="rId5"/>
            </p:custDataLst>
          </p:nvPr>
        </p:nvCxnSpPr>
        <p:spPr>
          <a:xfrm>
            <a:off x="4617720" y="3227832"/>
            <a:ext cx="429768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5074920" y="2743200"/>
            <a:ext cx="1874519" cy="96012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rPr>
                <a:solidFill>
                  <a:schemeClr val="tx1"/>
                </a:solidFill>
              </a:rPr>
              <a:t>Data Processing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9" name="Connector 8"/>
          <p:cNvCxnSpPr/>
          <p:nvPr>
            <p:custDataLst>
              <p:tags r:id="rId7"/>
            </p:custDataLst>
          </p:nvPr>
        </p:nvCxnSpPr>
        <p:spPr>
          <a:xfrm>
            <a:off x="6949440" y="3227832"/>
            <a:ext cx="429768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7406640" y="2743200"/>
            <a:ext cx="1874519" cy="960120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rPr>
                <a:solidFill>
                  <a:schemeClr val="tx1"/>
                </a:solidFill>
              </a:rPr>
              <a:t>Blockchain Security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1" name="Connector 10"/>
          <p:cNvCxnSpPr/>
          <p:nvPr>
            <p:custDataLst>
              <p:tags r:id="rId9"/>
            </p:custDataLst>
          </p:nvPr>
        </p:nvCxnSpPr>
        <p:spPr>
          <a:xfrm>
            <a:off x="9281159" y="3227832"/>
            <a:ext cx="429769" cy="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>
            <p:custDataLst>
              <p:tags r:id="rId10"/>
            </p:custDataLst>
          </p:nvPr>
        </p:nvSpPr>
        <p:spPr>
          <a:xfrm>
            <a:off x="9738360" y="2743200"/>
            <a:ext cx="1874519" cy="96012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600" b="1">
                <a:solidFill>
                  <a:srgbClr val="142341"/>
                </a:solidFill>
              </a:defRPr>
            </a:pPr>
            <a:r>
              <a:rPr>
                <a:solidFill>
                  <a:schemeClr val="tx1"/>
                </a:solidFill>
              </a:rPr>
              <a:t>Dashboard / User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-1612900" y="4572000"/>
            <a:ext cx="152958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Proposed flow: Sensors collect data → Controller transmits data → Data is processed → Important records are secured → User monitors information.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4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640080" y="6144768"/>
            <a:ext cx="112268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00918C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1" name="Title 30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wrap="square" lIns="0" tIns="0" rIns="0" bIns="0" rtlCol="0" anchor="b">
            <a:normAutofit fontScale="90000"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3. Proposed System Architecture / Block Diagram</a:t>
            </a:r>
            <a:endParaRPr lang="en-US" dirty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55448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ESP32 / Arduino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Main microcontroller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Rounded Rectangle 4"/>
          <p:cNvSpPr/>
          <p:nvPr>
            <p:custDataLst>
              <p:tags r:id="rId2"/>
            </p:custDataLst>
          </p:nvPr>
        </p:nvSpPr>
        <p:spPr>
          <a:xfrm>
            <a:off x="6309359" y="155448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Soil Moisture Sensor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Measures soil moisture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>
            <p:custDataLst>
              <p:tags r:id="rId3"/>
            </p:custDataLst>
          </p:nvPr>
        </p:nvSpPr>
        <p:spPr>
          <a:xfrm>
            <a:off x="731520" y="297180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Temperature Sensor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Measures temperature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6309359" y="297180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Humidity Sensor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Measures humidity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731520" y="438912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Wi-Fi Connectivity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Transfers data to the system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6309359" y="4389120"/>
            <a:ext cx="4983480" cy="10515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7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Power Supply</a:t>
            </a:r>
            <a:endParaRPr>
              <a:solidFill>
                <a:schemeClr val="bg1"/>
              </a:solidFill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Provides power to components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40080" y="6144768"/>
            <a:ext cx="160528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34A853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4. Proposed Hardware Components</a:t>
            </a:r>
            <a:endParaRPr lang="en-US" dirty="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5363210" y="1938020"/>
            <a:ext cx="6249670" cy="32169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Arduino IDE – Programming and interfacing with the microcontroller.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Python – Data processing and backend development.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Blockchain Platform / Framework – Securing important agricultural records.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Cloud Database – Storing and managing sensor information.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9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Web or Mobile Dashboard – Displaying monitored agricultural data.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6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5. Proposed Software Components</a:t>
            </a:r>
            <a:endParaRPr lang="en-US" dirty="0">
              <a:sym typeface="+mn-ea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75" y="1951355"/>
            <a:ext cx="4923790" cy="32035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463040" y="1307592"/>
            <a:ext cx="34213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Sensors collect agricultural data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>
            <p:custDataLst>
              <p:tags r:id="rId3"/>
            </p:custDataLst>
          </p:nvPr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463040" y="2057400"/>
            <a:ext cx="34975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ESP32 receives sensor readings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>
            <p:custDataLst>
              <p:tags r:id="rId5"/>
            </p:custDataLst>
          </p:nvPr>
        </p:nvSpPr>
        <p:spPr>
          <a:xfrm>
            <a:off x="822960" y="2825496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463040" y="2807208"/>
            <a:ext cx="32943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Data is transmitted using Wi-Fi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822960" y="3575304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463040" y="3557016"/>
            <a:ext cx="42087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Software processes and stores the data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>
            <p:custDataLst>
              <p:tags r:id="rId9"/>
            </p:custDataLst>
          </p:nvPr>
        </p:nvSpPr>
        <p:spPr>
          <a:xfrm>
            <a:off x="822960" y="4325112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1463040" y="4306824"/>
            <a:ext cx="39928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Blockchain secures important records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>
            <p:custDataLst>
              <p:tags r:id="rId11"/>
            </p:custDataLst>
          </p:nvPr>
        </p:nvSpPr>
        <p:spPr>
          <a:xfrm>
            <a:off x="822960" y="507492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solidFill>
                  <a:schemeClr val="lt1"/>
                </a:solidFill>
              </a:rPr>
              <a:t>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1463040" y="5056632"/>
            <a:ext cx="4526280" cy="3683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Dashboard displays information to the user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7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6. Hardware–Software Integration</a:t>
            </a:r>
            <a:endParaRPr lang="en-US" dirty="0">
              <a:sym typeface="+mn-ea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26785" y="2110105"/>
            <a:ext cx="5835650" cy="2945765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1143000" y="1508760"/>
            <a:ext cx="9875520" cy="347472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3008313" y="1828800"/>
            <a:ext cx="6144895" cy="4914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600" b="1">
                <a:solidFill>
                  <a:srgbClr val="142341"/>
                </a:solidFill>
              </a:defRPr>
            </a:pPr>
            <a:r>
              <a:rPr>
                <a:solidFill>
                  <a:schemeClr val="bg1"/>
                </a:solidFill>
              </a:rPr>
              <a:t>Prototype Status: Under Development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828800" y="2743200"/>
            <a:ext cx="8503920" cy="183515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• The working prototype has not yet been implemented.</a:t>
            </a:r>
            <a:endParaRPr>
              <a:solidFill>
                <a:schemeClr val="bg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• The current review focuses on the proposed architecture and implementation plan.</a:t>
            </a:r>
            <a:endParaRPr>
              <a:solidFill>
                <a:schemeClr val="bg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bg1"/>
                </a:solidFill>
              </a:rPr>
              <a:t>• The next phase will involve hardware setup, data collection, blockchain integration and testing.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1359515" y="6446520"/>
            <a:ext cx="253365" cy="245110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9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40080" y="6144768"/>
            <a:ext cx="121158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34A853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4" name="Title 2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8. Working Prototype / Demo</a:t>
            </a:r>
            <a:endParaRPr lang="en-US" dirty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822960" y="1417320"/>
            <a:ext cx="10515600" cy="265112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Connect and test IoT sensors with the microcontroller.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Develop the sensor data collection and transmission system.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Implement blockchain-based data security.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Create a web or mobile monitoring dashboard.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Build and test the complete working prototype.</a:t>
            </a:r>
            <a:endParaRPr>
              <a:solidFill>
                <a:schemeClr val="tx1"/>
              </a:solidFill>
            </a:endParaRPr>
          </a:p>
          <a:p>
            <a:pPr>
              <a:spcAft>
                <a:spcPts val="1400"/>
              </a:spcAft>
              <a:defRPr sz="1800">
                <a:solidFill>
                  <a:srgbClr val="232323"/>
                </a:solidFill>
              </a:defRPr>
            </a:pPr>
            <a:r>
              <a:rPr>
                <a:solidFill>
                  <a:schemeClr val="tx1"/>
                </a:solidFill>
              </a:rPr>
              <a:t>• Future enhancement: automatic irrigation, AI-based crop recommendations and weather integration.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1289030" y="6446520"/>
            <a:ext cx="323850" cy="245110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>
                <a:solidFill>
                  <a:schemeClr val="tx1"/>
                </a:solidFill>
              </a:rPr>
              <a:t>11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6144768"/>
            <a:ext cx="1548130" cy="22987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solidFill>
                  <a:srgbClr val="34A853"/>
                </a:solidFill>
              </a:defRPr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10. Future Scope</a:t>
            </a:r>
            <a:endParaRPr 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Title 23"/>
          <p:cNvSpPr>
            <a:spLocks noGrp="1"/>
          </p:cNvSpPr>
          <p:nvPr/>
        </p:nvSpPr>
        <p:spPr>
          <a:xfrm>
            <a:off x="838200" y="1265555"/>
            <a:ext cx="10298430" cy="35433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IN" sz="6000" b="1" i="0" u="none" strike="noStrike" kern="1200" cap="none" spc="0" normalizeH="0" baseline="0" noProof="1" dirty="0" smtClean="0">
                <a:solidFill>
                  <a:schemeClr val="tx1"/>
                </a:solidFill>
                <a:uFillTx/>
                <a:latin typeface="+mj-lt"/>
                <a:ea typeface="+mn-ea"/>
                <a:cs typeface="Arial" panose="020B0604020202020204" pitchFamily="34" charset="0"/>
                <a:sym typeface="+mn-ea"/>
              </a:defRPr>
            </a:lvl1pPr>
          </a:lstStyle>
          <a:p>
            <a:pPr algn="l">
              <a:buNone/>
            </a:pPr>
            <a:r>
              <a:rPr>
                <a:solidFill>
                  <a:schemeClr val="tx1"/>
                </a:solidFill>
              </a:rPr>
              <a:t>                     THANKS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19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19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25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261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26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26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6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65.xml><?xml version="1.0" encoding="utf-8"?>
<p:tagLst xmlns:p="http://schemas.openxmlformats.org/presentationml/2006/main">
  <p:tag name="KSO_WM_SLIDE_TYPE" val="text"/>
  <p:tag name="KSO_WM_BEAUTIFY_FLAG" val="#wm#"/>
  <p:tag name="KSO_WM_SLIDE_THEME_ID" val="3321262"/>
  <p:tag name="KSO_WM_SLIDE_THEME_NAME" val="White Minimalist"/>
</p:tagLst>
</file>

<file path=ppt/tags/tag26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6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69.xml><?xml version="1.0" encoding="utf-8"?>
<p:tagLst xmlns:p="http://schemas.openxmlformats.org/presentationml/2006/main">
  <p:tag name="KSO_WM_UNIT_TEXT" val="Blockchain-Based IoT Smart Agriculture Monitoring and Data Security Syste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0.xml><?xml version="1.0" encoding="utf-8"?>
<p:tagLst xmlns:p="http://schemas.openxmlformats.org/presentationml/2006/main">
  <p:tag name="KSO_WM_SLIDE_TYPE" val="text"/>
  <p:tag name="KSO_WM_BEAUTIFY_FLAG" val="#wm#"/>
</p:tagLst>
</file>

<file path=ppt/tags/tag27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7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7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TEXT" val="1. Project Title and 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5.xml><?xml version="1.0" encoding="utf-8"?>
<p:tagLst xmlns:p="http://schemas.openxmlformats.org/presentationml/2006/main">
  <p:tag name="KSO_WM_SLIDE_TYPE" val="text"/>
  <p:tag name="KSO_WM_BEAUTIFY_FLAG" val="#wm#"/>
</p:tagLst>
</file>

<file path=ppt/tags/tag27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7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8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8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8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83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8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8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87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88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89.xml><?xml version="1.0" encoding="utf-8"?>
<p:tagLst xmlns:p="http://schemas.openxmlformats.org/presentationml/2006/main">
  <p:tag name="KSO_WM_UNIT_TEXT" val="2. Objectiv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0.xml><?xml version="1.0" encoding="utf-8"?>
<p:tagLst xmlns:p="http://schemas.openxmlformats.org/presentationml/2006/main">
  <p:tag name="KSO_WM_SLIDE_TYPE" val="text"/>
  <p:tag name="KSO_WM_BEAUTIFY_FLAG" val="#wm#"/>
</p:tagLst>
</file>

<file path=ppt/tags/tag29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93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9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95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9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9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9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99.xml><?xml version="1.0" encoding="utf-8"?>
<p:tagLst xmlns:p="http://schemas.openxmlformats.org/presentationml/2006/main">
  <p:tag name="KSO_WM_UNIT_TEXT" val="3. Proposed System Architecture / Block Diagra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00.xml><?xml version="1.0" encoding="utf-8"?>
<p:tagLst xmlns:p="http://schemas.openxmlformats.org/presentationml/2006/main">
  <p:tag name="KSO_WM_SLIDE_TYPE" val="text"/>
  <p:tag name="KSO_WM_BEAUTIFY_FLAG" val="#wm#"/>
</p:tagLst>
</file>

<file path=ppt/tags/tag30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03.xml><?xml version="1.0" encoding="utf-8"?>
<p:tagLst xmlns:p="http://schemas.openxmlformats.org/presentationml/2006/main">
  <p:tag name="KSO_WM_UNIT_TEXT" val="4. Proposed Hardware Compon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04.xml><?xml version="1.0" encoding="utf-8"?>
<p:tagLst xmlns:p="http://schemas.openxmlformats.org/presentationml/2006/main">
  <p:tag name="KSO_WM_SLIDE_TYPE" val="text"/>
  <p:tag name="KSO_WM_BEAUTIFY_FLAG" val="#wm#"/>
</p:tagLst>
</file>

<file path=ppt/tags/tag305.xml><?xml version="1.0" encoding="utf-8"?>
<p:tagLst xmlns:p="http://schemas.openxmlformats.org/presentationml/2006/main">
  <p:tag name="KSO_WM_UNIT_INDEX" val="1_1_2"/>
  <p:tag name="KSO_WM_UNIT_TYPE" val="l_h_i"/>
  <p:tag name="KSO_WM_UNIT_SUBTYPE" val="d"/>
  <p:tag name="KSO_WM_TEMPLATE_CATEGORY" val="diagram"/>
  <p:tag name="KSO_WM_TEMPLATE_INDEX" val="19882022"/>
  <p:tag name="KSO_WM_UNIT_ID" val="diagram19882022*l_h_i*1_1_2"/>
  <p:tag name="KSO_WM_DIAGRAM_GROUP_CODE" val="l1-1"/>
  <p:tag name="KSO_WM_TAG_VERSION" val="2.0"/>
  <p:tag name="KSO_WM_BEAUTIFY_FLAG" val="#wm#"/>
</p:tagLst>
</file>

<file path=ppt/tags/tag306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307.xml><?xml version="1.0" encoding="utf-8"?>
<p:tagLst xmlns:p="http://schemas.openxmlformats.org/presentationml/2006/main">
  <p:tag name="KSO_WM_UNIT_INDEX" val="1_2_2"/>
  <p:tag name="KSO_WM_UNIT_TYPE" val="l_h_i"/>
  <p:tag name="KSO_WM_UNIT_SUBTYPE" val="d"/>
  <p:tag name="KSO_WM_TEMPLATE_CATEGORY" val="diagram"/>
  <p:tag name="KSO_WM_TEMPLATE_INDEX" val="19882022"/>
  <p:tag name="KSO_WM_UNIT_ID" val="diagram19882022*l_h_i*1_2_2"/>
  <p:tag name="KSO_WM_DIAGRAM_GROUP_CODE" val="l1-1"/>
  <p:tag name="KSO_WM_TAG_VERSION" val="2.0"/>
  <p:tag name="KSO_WM_BEAUTIFY_FLAG" val="#wm#"/>
</p:tagLst>
</file>

<file path=ppt/tags/tag308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  <p:tag name="KSO_WM_BEAUTIFY_FLAG" val="#wm#"/>
</p:tagLst>
</file>

<file path=ppt/tags/tag309.xml><?xml version="1.0" encoding="utf-8"?>
<p:tagLst xmlns:p="http://schemas.openxmlformats.org/presentationml/2006/main">
  <p:tag name="KSO_WM_UNIT_INDEX" val="1_3_2"/>
  <p:tag name="KSO_WM_UNIT_TYPE" val="l_h_i"/>
  <p:tag name="KSO_WM_UNIT_SUBTYPE" val="d"/>
  <p:tag name="KSO_WM_TEMPLATE_CATEGORY" val="diagram"/>
  <p:tag name="KSO_WM_TEMPLATE_INDEX" val="19882022"/>
  <p:tag name="KSO_WM_UNIT_ID" val="diagram19882022*l_h_i*1_3_2"/>
  <p:tag name="KSO_WM_DIAGRAM_GROUP_CODE" val="l1-1"/>
  <p:tag name="KSO_WM_TAG_VERSION" val="2.0"/>
  <p:tag name="KSO_WM_BEAUTIFY_FLAG" val="#wm#"/>
</p:tagLst>
</file>

<file path=ppt/tags/tag310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311.xml><?xml version="1.0" encoding="utf-8"?>
<p:tagLst xmlns:p="http://schemas.openxmlformats.org/presentationml/2006/main">
  <p:tag name="KSO_WM_UNIT_INDEX" val="1_4_2"/>
  <p:tag name="KSO_WM_UNIT_TYPE" val="l_h_i"/>
  <p:tag name="KSO_WM_UNIT_SUBTYPE" val="d"/>
  <p:tag name="KSO_WM_TEMPLATE_CATEGORY" val="diagram"/>
  <p:tag name="KSO_WM_TEMPLATE_INDEX" val="19882022"/>
  <p:tag name="KSO_WM_UNIT_ID" val="diagram19882022*l_h_i*1_4_2"/>
  <p:tag name="KSO_WM_DIAGRAM_GROUP_CODE" val="l1-1"/>
  <p:tag name="KSO_WM_TAG_VERSION" val="2.0"/>
  <p:tag name="KSO_WM_BEAUTIFY_FLAG" val="#wm#"/>
</p:tagLst>
</file>

<file path=ppt/tags/tag312.xml><?xml version="1.0" encoding="utf-8"?>
<p:tagLst xmlns:p="http://schemas.openxmlformats.org/presentationml/2006/main">
  <p:tag name="KSO_WM_UNIT_INDEX" val="1_4_1"/>
  <p:tag name="KSO_WM_UNIT_TYPE" val="l_h_f"/>
  <p:tag name="KSO_WM_UNIT_SUBTYPE" val="a"/>
  <p:tag name="KSO_WM_TEMPLATE_CATEGORY" val="diagram"/>
  <p:tag name="KSO_WM_TEMPLATE_INDEX" val="19882022"/>
  <p:tag name="KSO_WM_UNIT_ID" val="diagram19882022*l_h_f*1_4_1"/>
  <p:tag name="KSO_WM_DIAGRAM_GROUP_CODE" val="l1-1"/>
  <p:tag name="KSO_WM_TAG_VERSION" val="2.0"/>
  <p:tag name="KSO_WM_BEAUTIFY_FLAG" val="#wm#"/>
</p:tagLst>
</file>

<file path=ppt/tags/tag313.xml><?xml version="1.0" encoding="utf-8"?>
<p:tagLst xmlns:p="http://schemas.openxmlformats.org/presentationml/2006/main">
  <p:tag name="KSO_WM_UNIT_INDEX" val="1_5_2"/>
  <p:tag name="KSO_WM_UNIT_TYPE" val="l_h_i"/>
  <p:tag name="KSO_WM_UNIT_SUBTYPE" val="d"/>
  <p:tag name="KSO_WM_TEMPLATE_CATEGORY" val="diagram"/>
  <p:tag name="KSO_WM_TEMPLATE_INDEX" val="19882022"/>
  <p:tag name="KSO_WM_UNIT_ID" val="diagram19882022*l_h_i*1_5_2"/>
  <p:tag name="KSO_WM_DIAGRAM_GROUP_CODE" val="l1-1"/>
  <p:tag name="KSO_WM_TAG_VERSION" val="2.0"/>
  <p:tag name="KSO_WM_BEAUTIFY_FLAG" val="#wm#"/>
</p:tagLst>
</file>

<file path=ppt/tags/tag314.xml><?xml version="1.0" encoding="utf-8"?>
<p:tagLst xmlns:p="http://schemas.openxmlformats.org/presentationml/2006/main">
  <p:tag name="KSO_WM_UNIT_INDEX" val="1_5_1"/>
  <p:tag name="KSO_WM_UNIT_TYPE" val="l_h_f"/>
  <p:tag name="KSO_WM_UNIT_SUBTYPE" val="a"/>
  <p:tag name="KSO_WM_TEMPLATE_CATEGORY" val="diagram"/>
  <p:tag name="KSO_WM_TEMPLATE_INDEX" val="19882022"/>
  <p:tag name="KSO_WM_UNIT_ID" val="diagram19882022*l_h_f*1_5_1"/>
  <p:tag name="KSO_WM_DIAGRAM_GROUP_CODE" val="l1-1"/>
  <p:tag name="KSO_WM_TAG_VERSION" val="2.0"/>
  <p:tag name="KSO_WM_BEAUTIFY_FLAG" val="#wm#"/>
</p:tagLst>
</file>

<file path=ppt/tags/tag315.xml><?xml version="1.0" encoding="utf-8"?>
<p:tagLst xmlns:p="http://schemas.openxmlformats.org/presentationml/2006/main">
  <p:tag name="KSO_WM_UNIT_INDEX" val="1_6_2"/>
  <p:tag name="KSO_WM_UNIT_TYPE" val="l_h_i"/>
  <p:tag name="KSO_WM_UNIT_SUBTYPE" val="d"/>
  <p:tag name="KSO_WM_TEMPLATE_CATEGORY" val="diagram"/>
  <p:tag name="KSO_WM_TEMPLATE_INDEX" val="19882022"/>
  <p:tag name="KSO_WM_UNIT_ID" val="diagram19882022*l_h_i*1_6_2"/>
  <p:tag name="KSO_WM_DIAGRAM_GROUP_CODE" val="l1-1"/>
  <p:tag name="KSO_WM_TAG_VERSION" val="2.0"/>
  <p:tag name="KSO_WM_BEAUTIFY_FLAG" val="#wm#"/>
</p:tagLst>
</file>

<file path=ppt/tags/tag316.xml><?xml version="1.0" encoding="utf-8"?>
<p:tagLst xmlns:p="http://schemas.openxmlformats.org/presentationml/2006/main">
  <p:tag name="KSO_WM_UNIT_INDEX" val="1_6_1"/>
  <p:tag name="KSO_WM_UNIT_TYPE" val="l_h_f"/>
  <p:tag name="KSO_WM_UNIT_SUBTYPE" val="a"/>
  <p:tag name="KSO_WM_TEMPLATE_CATEGORY" val="diagram"/>
  <p:tag name="KSO_WM_TEMPLATE_INDEX" val="19882022"/>
  <p:tag name="KSO_WM_UNIT_ID" val="diagram19882022*l_h_f*1_6_1"/>
  <p:tag name="KSO_WM_DIAGRAM_GROUP_CODE" val="l1-1"/>
  <p:tag name="KSO_WM_TAG_VERSION" val="2.0"/>
  <p:tag name="KSO_WM_BEAUTIFY_FLAG" val="#wm#"/>
</p:tagLst>
</file>

<file path=ppt/tags/tag31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SLIDE_TYPE" val="text"/>
  <p:tag name="KSO_WM_BEAUTIFY_FLAG" val="#wm#"/>
</p:tagLst>
</file>

<file path=ppt/tags/tag32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2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2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23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32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25.xml><?xml version="1.0" encoding="utf-8"?>
<p:tagLst xmlns:p="http://schemas.openxmlformats.org/presentationml/2006/main">
  <p:tag name="KSO_WM_UNIT_TEXT" val="7. Current Project Progres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26.xml><?xml version="1.0" encoding="utf-8"?>
<p:tagLst xmlns:p="http://schemas.openxmlformats.org/presentationml/2006/main">
  <p:tag name="KSO_WM_SLIDE_TYPE" val="text"/>
  <p:tag name="KSO_WM_BEAUTIFY_FLAG" val="#wm#"/>
</p:tagLst>
</file>

<file path=ppt/tags/tag32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2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30.xml><?xml version="1.0" encoding="utf-8"?>
<p:tagLst xmlns:p="http://schemas.openxmlformats.org/presentationml/2006/main">
  <p:tag name="KSO_WM_UNIT_TEXT" val="9. Expected Resul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331.xml><?xml version="1.0" encoding="utf-8"?>
<p:tagLst xmlns:p="http://schemas.openxmlformats.org/presentationml/2006/main">
  <p:tag name="KSO_WM_SLIDE_TYPE" val="text"/>
  <p:tag name="KSO_WM_BEAUTIFY_FLAG" val="#wm#"/>
</p:tagLst>
</file>

<file path=ppt/tags/tag332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SLIDE_THEME_ID" val="3321262"/>
  <p:tag name="KSO_WM_SLIDE_THEME_NAME" val="Whit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2869</Words>
  <Application>WPS Presentation</Application>
  <PresentationFormat>On-screen Show (4:3)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SimSun</vt:lpstr>
      <vt:lpstr>Wingdings</vt:lpstr>
      <vt:lpstr>Arial</vt:lpstr>
      <vt:lpstr>江城圆体 400W</vt:lpstr>
      <vt:lpstr>Wingdings</vt:lpstr>
      <vt:lpstr>Times New Roman</vt:lpstr>
      <vt:lpstr>Arial Black</vt:lpstr>
      <vt:lpstr>Lato</vt:lpstr>
      <vt:lpstr>Microsoft YaHei</vt:lpstr>
      <vt:lpstr>Arial Unicode MS</vt:lpstr>
      <vt:lpstr>Manrope ExtraBold</vt:lpstr>
      <vt:lpstr>Calibri</vt:lpstr>
      <vt:lpstr>Charis SIL</vt:lpstr>
      <vt:lpstr>Crimson Text SemiBold</vt:lpstr>
      <vt:lpstr>Office Theme</vt:lpstr>
      <vt:lpstr>1_Office Theme</vt:lpstr>
      <vt:lpstr>2_Office Theme</vt:lpstr>
      <vt:lpstr>3_Office Theme</vt:lpstr>
      <vt:lpstr>PowerPoint 演示文稿</vt:lpstr>
      <vt:lpstr>1. Project Title and Problem Statement</vt:lpstr>
      <vt:lpstr>2. Objectives</vt:lpstr>
      <vt:lpstr>3. Proposed System Architecture / Block Diagram</vt:lpstr>
      <vt:lpstr>4. Proposed Hardware Components</vt:lpstr>
      <vt:lpstr>5. Proposed Software Components</vt:lpstr>
      <vt:lpstr>6. Hardware–Software Integration</vt:lpstr>
      <vt:lpstr>8. Working Prototype / Demo</vt:lpstr>
      <vt:lpstr>10. Future Scope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aish prabha</cp:lastModifiedBy>
  <cp:revision>4</cp:revision>
  <dcterms:created xsi:type="dcterms:W3CDTF">2013-01-27T09:14:00Z</dcterms:created>
  <dcterms:modified xsi:type="dcterms:W3CDTF">2026-08-30T20:00:28Z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FC6C16A0BBC5441B8EA2CC0136B1A777_13</vt:lpwstr>
  </property>
</Properties>
</file>